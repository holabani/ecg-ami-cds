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mpr58hp2u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70356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24128"/>
            <a:ext cx="10515600" cy="82296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07040" cy="2331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Times New Roman"/>
              </a:rPr>
              <a:t>AI-Based ECG Analysis for Early Detection of</a:t>
            </a:r>
            <a:br/>
            <a:r>
              <a:t>Acute Myocardial Infarction (AMI)</a:t>
            </a:r>
            <a:br/>
            <a:r>
              <a:t>and Revascularization Need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39312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B4DCD7"/>
                </a:solidFill>
                <a:latin typeface="Calibri"/>
              </a:rPr>
              <a:t>CardioSense · Clinical decision support platform (production-style stack)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69080"/>
            <a:ext cx="10058400" cy="2606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1">
                <a:solidFill>
                  <a:srgbClr val="FFFFFF"/>
                </a:solidFill>
                <a:latin typeface="Times New Roman"/>
              </a:rPr>
              <a:t>Major Project — ecg-ami-cds</a:t>
            </a:r>
          </a:p>
          <a:p>
            <a:pPr algn="ctr">
              <a:spcBef>
                <a:spcPts val="800"/>
              </a:spcBef>
            </a:pPr>
            <a:r>
              <a:rPr sz="1400" b="0">
                <a:solidFill>
                  <a:srgbClr val="C6D0E0"/>
                </a:solidFill>
                <a:latin typeface="Times New Roman"/>
              </a:rPr>
              <a:t>Bhavya Saxena · Jiya Bajaj · Harmeet Kaur</a:t>
            </a:r>
          </a:p>
          <a:p>
            <a:pPr algn="ctr">
              <a:spcBef>
                <a:spcPts val="0"/>
              </a:spcBef>
            </a:pPr>
            <a:r>
              <a:rPr sz="1400" b="0">
                <a:solidFill>
                  <a:srgbClr val="C6D0E0"/>
                </a:solidFill>
                <a:latin typeface="Times New Roman"/>
              </a:rPr>
              <a:t>Faculty Guide: Dr. Renuka Nagpal</a:t>
            </a:r>
          </a:p>
          <a:p>
            <a:pPr algn="ctr">
              <a:spcBef>
                <a:spcPts val="0"/>
              </a:spcBef>
            </a:pPr>
            <a:r>
              <a:rPr sz="1400" b="0">
                <a:solidFill>
                  <a:srgbClr val="C6D0E0"/>
                </a:solidFill>
                <a:latin typeface="Times New Roman"/>
              </a:rPr>
              <a:t>Amity School of Engineering and Technology</a:t>
            </a:r>
          </a:p>
          <a:p>
            <a:pPr algn="ctr">
              <a:spcBef>
                <a:spcPts val="0"/>
              </a:spcBef>
            </a:pPr>
            <a:r>
              <a:rPr sz="1400" b="0">
                <a:solidFill>
                  <a:srgbClr val="C6D0E0"/>
                </a:solidFill>
                <a:latin typeface="Times New Roman"/>
              </a:rPr>
              <a:t>Amity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47472"/>
            <a:ext cx="12191999" cy="5486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Times New Roman"/>
              </a:rPr>
              <a:t>Problem statement — clinical workflow friction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6D0E0"/>
                </a:solidFill>
                <a:latin typeface="Calibri"/>
              </a:rPr>
              <a:t>Real-world delays and gaps motivating instrumented CDS + monitoring.</a:t>
            </a:r>
          </a:p>
        </p:txBody>
      </p:sp>
      <p:pic>
        <p:nvPicPr>
          <p:cNvPr id="5" name="Picture 4" descr="tmpa2i1ut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89888"/>
            <a:ext cx="11384280" cy="50917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47472"/>
            <a:ext cx="12191999" cy="5486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Times New Roman"/>
              </a:rP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6D0E0"/>
                </a:solidFill>
                <a:latin typeface="Calibri"/>
              </a:rPr>
              <a:t>Six capability pillars implemented across FastAPI, Next.js, PyTorch, and the compose stack.</a:t>
            </a:r>
          </a:p>
        </p:txBody>
      </p:sp>
      <p:pic>
        <p:nvPicPr>
          <p:cNvPr id="5" name="Picture 4" descr="tmpwy21fkb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89888"/>
            <a:ext cx="11384280" cy="50429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47472"/>
            <a:ext cx="12191999" cy="5486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Times New Roman"/>
              </a:rPr>
              <a:t>Traditional vs CardioSense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6D0E0"/>
                </a:solidFill>
                <a:latin typeface="Calibri"/>
              </a:rPr>
              <a:t>Capability comparison grounded in repository features — not speculative performance claims.</a:t>
            </a:r>
          </a:p>
        </p:txBody>
      </p:sp>
      <p:pic>
        <p:nvPicPr>
          <p:cNvPr id="5" name="Picture 4" descr="tmp3_4wvy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89888"/>
            <a:ext cx="11384280" cy="53093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47472"/>
            <a:ext cx="12191999" cy="5486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Times New Roman"/>
              </a:rPr>
              <a:t>System architecture — deployed CDS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6D0E0"/>
                </a:solidFill>
                <a:latin typeface="Calibri"/>
              </a:rPr>
              <a:t>Single coherent diagram: user path, inference stack, auth, observability, and container footprint.</a:t>
            </a:r>
          </a:p>
        </p:txBody>
      </p:sp>
      <p:pic>
        <p:nvPicPr>
          <p:cNvPr id="5" name="Picture 4" descr="tmp64srgbt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89888"/>
            <a:ext cx="11384280" cy="588442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47472"/>
            <a:ext cx="12191999" cy="5486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Times New Roman"/>
              </a:rPr>
              <a:t>ECG signal processing &amp; model inputs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6D0E0"/>
                </a:solidFill>
                <a:latin typeface="Calibri"/>
              </a:rPr>
              <a:t>Pan–Tompkins · bandpass/notch · median beat · Daubechies features — matches backend/preprocessing.py and features.py.</a:t>
            </a:r>
          </a:p>
        </p:txBody>
      </p:sp>
      <p:pic>
        <p:nvPicPr>
          <p:cNvPr id="5" name="Picture 4" descr="tmpjmvke1w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89888"/>
            <a:ext cx="11384280" cy="52946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47472"/>
            <a:ext cx="12191999" cy="5486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Times New Roman"/>
              </a:rPr>
              <a:t>CNN–BiLSTM inference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6D0E0"/>
                </a:solidFill>
                <a:latin typeface="Calibri"/>
              </a:rPr>
              <a:t>research-grade view of CardioSense dual-branch fusion with concrete STFT hyper-parameters.</a:t>
            </a:r>
          </a:p>
        </p:txBody>
      </p:sp>
      <p:pic>
        <p:nvPicPr>
          <p:cNvPr id="5" name="Picture 4" descr="tmpm9d55u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89888"/>
            <a:ext cx="11384280" cy="58055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47472"/>
            <a:ext cx="12191999" cy="5486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Times New Roman"/>
              </a:rPr>
              <a:t>Explainable AI — Grad-CAM &amp; SHAP-style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6D0E0"/>
                </a:solidFill>
                <a:latin typeface="Calibri"/>
              </a:rPr>
              <a:t>Illustrative only — API keys: gradcam_lead_importance, shap_features · explain.py + Next.js visualisation.</a:t>
            </a:r>
          </a:p>
        </p:txBody>
      </p:sp>
      <p:pic>
        <p:nvPicPr>
          <p:cNvPr id="5" name="Picture 4" descr="tmpp5jav5w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89888"/>
            <a:ext cx="11384280" cy="55688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47472"/>
            <a:ext cx="12191999" cy="5486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Times New Roman"/>
              </a:rPr>
              <a:t>FastAPI backend, Axios client &amp; auth plane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6D0E0"/>
                </a:solidFill>
                <a:latin typeface="Calibri"/>
              </a:rPr>
              <a:t>JWT + OTP registration + protected predict/history/alerts/explain routes as implemented in main.py.</a:t>
            </a:r>
          </a:p>
        </p:txBody>
      </p:sp>
      <p:pic>
        <p:nvPicPr>
          <p:cNvPr id="5" name="Picture 4" descr="tmpmqckey4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89888"/>
            <a:ext cx="11384280" cy="53400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47472"/>
            <a:ext cx="12191999" cy="5486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Times New Roman"/>
              </a:rPr>
              <a:t>Monitoring &amp;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6D0E0"/>
                </a:solidFill>
                <a:latin typeface="Calibri"/>
              </a:rPr>
              <a:t>Grafana-style time-series + Prometheus scrape chain reflecting backend/metrics.py instrumentation.</a:t>
            </a:r>
          </a:p>
        </p:txBody>
      </p:sp>
      <p:pic>
        <p:nvPicPr>
          <p:cNvPr id="5" name="Picture 4" descr="tmpi00mohf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89888"/>
            <a:ext cx="11384280" cy="567051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47472"/>
            <a:ext cx="12191999" cy="5486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Times New Roman"/>
              </a:rPr>
              <a:t>AWS EC2 deployment — Docker &amp; nginx ingress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6D0E0"/>
                </a:solidFill>
                <a:latin typeface="Calibri"/>
              </a:rPr>
              <a:t>Light theme cloud diagram · maps to docker-compose.production.yml + EC2 host nginx TLS.</a:t>
            </a:r>
          </a:p>
        </p:txBody>
      </p:sp>
      <p:pic>
        <p:nvPicPr>
          <p:cNvPr id="5" name="Picture 4" descr="tmpyyodt8g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89888"/>
            <a:ext cx="11384280" cy="54722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47472"/>
            <a:ext cx="12191999" cy="5486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Times New Roman"/>
              </a:rPr>
              <a:t>Results, KPIs &amp; evidence slots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6D0E0"/>
                </a:solidFill>
                <a:latin typeface="Calibri"/>
              </a:rPr>
              <a:t>Placeholders for thesis metrics + replace wireframes with your capture of the live UI and Grafana.</a:t>
            </a:r>
          </a:p>
        </p:txBody>
      </p:sp>
      <p:pic>
        <p:nvPicPr>
          <p:cNvPr id="5" name="Picture 4" descr="tmp7wwmmz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89888"/>
            <a:ext cx="11384280" cy="550957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47472"/>
            <a:ext cx="12191999" cy="5486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Times New Roman"/>
              </a:rPr>
              <a:t>Engineering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6D0E0"/>
                </a:solidFill>
                <a:latin typeface="Calibri"/>
              </a:rPr>
              <a:t>Practical constraints encountered integrating ML + observability + full-stack deployment.</a:t>
            </a:r>
          </a:p>
        </p:txBody>
      </p:sp>
      <p:pic>
        <p:nvPicPr>
          <p:cNvPr id="5" name="Picture 4" descr="tmp41x1h2f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89888"/>
            <a:ext cx="11384280" cy="504294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47472"/>
            <a:ext cx="12191999" cy="5486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Times New Roman"/>
              </a:rPr>
              <a:t>Conclusion &amp; future scope</a:t>
            </a:r>
          </a:p>
        </p:txBody>
      </p:sp>
      <p:pic>
        <p:nvPicPr>
          <p:cNvPr id="4" name="Picture 3" descr="tmppf77h2g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61872"/>
            <a:ext cx="11384280" cy="534869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