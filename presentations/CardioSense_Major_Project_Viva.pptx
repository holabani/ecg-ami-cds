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mpa080uf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70039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515600" cy="2194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Times New Roman"/>
              </a:rPr>
              <a:t>AI-Based ECG Analysis for Early Detection of</a:t>
            </a:r>
            <a:br/>
            <a:r>
              <a:t>Acute Myocardial Infarction (AMI)</a:t>
            </a:r>
            <a:br/>
            <a:r>
              <a:t>and Revascularization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03320"/>
            <a:ext cx="10058400" cy="2651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</a:pPr>
            <a:r>
              <a:rPr sz="1300" b="1">
                <a:solidFill>
                  <a:srgbClr val="A8DADC"/>
                </a:solidFill>
                <a:latin typeface="Times New Roman"/>
              </a:rPr>
              <a:t>Major Project · CardioSense (ecg-ami-cds codebase)</a:t>
            </a:r>
          </a:p>
          <a:p>
            <a:pPr algn="ctr">
              <a:spcBef>
                <a:spcPts val="1000"/>
              </a:spcBef>
            </a:pPr>
            <a:r>
              <a:rPr sz="1400" b="0">
                <a:solidFill>
                  <a:srgbClr val="C8D2E1"/>
                </a:solidFill>
                <a:latin typeface="Times New Roman"/>
              </a:rPr>
              <a:t>Bhavya Saxena · Jiya Bajaj · Harmeet Kaur</a:t>
            </a:r>
          </a:p>
          <a:p>
            <a:pPr algn="ctr">
              <a:spcBef>
                <a:spcPts val="0"/>
              </a:spcBef>
            </a:pPr>
            <a:r>
              <a:rPr sz="1400" b="0">
                <a:solidFill>
                  <a:srgbClr val="C8D2E1"/>
                </a:solidFill>
                <a:latin typeface="Times New Roman"/>
              </a:rPr>
              <a:t>Faculty Guide: Dr. Renuka Nagpal</a:t>
            </a:r>
          </a:p>
          <a:p>
            <a:pPr algn="ctr">
              <a:spcBef>
                <a:spcPts val="0"/>
              </a:spcBef>
            </a:pPr>
            <a:r>
              <a:rPr sz="1400" b="0">
                <a:solidFill>
                  <a:srgbClr val="C8D2E1"/>
                </a:solidFill>
                <a:latin typeface="Times New Roman"/>
              </a:rPr>
              <a:t>Amity School of Engineering and Technology</a:t>
            </a:r>
          </a:p>
          <a:p>
            <a:pPr algn="ctr">
              <a:spcBef>
                <a:spcPts val="0"/>
              </a:spcBef>
            </a:pPr>
            <a:r>
              <a:rPr sz="1400" b="0">
                <a:solidFill>
                  <a:srgbClr val="C8D2E1"/>
                </a:solidFill>
                <a:latin typeface="Times New Roman"/>
              </a:rPr>
              <a:t>Amity University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Times New Roman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7899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AMI care quality depends on rapid recognition; delayed diagnosis narrows revascularization benefit.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Standard workflows rely heavily on manual ECG interpretation — expertise-dependent and variable under load.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Interpretation fatigue and communication gaps increase missed STEMI-equivalent patterns.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Hospital-grade CDS rarely bundles deep-learning inference with observability at internship-ready deployment depth.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Clinical stakeholders require transparency (why this risk?) alongside numeric scores.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Times New Roman"/>
              </a:rPr>
              <a:t>Project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7899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Detect AMI likelihood from 12-lead ECG signals via multi-branch CNN–BiLSTM (PyTorch).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Co-predict PCI/CABG (revascularization) need using the shared fused representation.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Expose explainability: Grad-CAM-style lead saliency + SHAP-like morphological/spectral attributions.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Deliver clinician-facing workflows: upload/analyse, history, explain route, alerts UI.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Deploy on AWS EC2 using Docker Compose + nginx with JWT auth and OTP registration.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Instrument Prometheus (/metrics) and Grafana dashboards for latency, traffic, and AMI tier counters.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Times New Roman"/>
              </a:rPr>
              <a:t>Existing vs proposed system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23444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Aspect</a:t>
                      </a:r>
                    </a:p>
                  </a:txBody>
                  <a:tcPr>
                    <a:solidFill>
                      <a:srgbClr val="1B2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Existing / conventional</a:t>
                      </a:r>
                    </a:p>
                  </a:txBody>
                  <a:tcPr>
                    <a:solidFill>
                      <a:srgbClr val="1B2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Proposed · CardioSense implementation</a:t>
                      </a:r>
                    </a:p>
                  </a:txBody>
                  <a:tcPr>
                    <a:solidFill>
                      <a:srgbClr val="1B26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Interpretation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Manual reading; siloed viewers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AI-assisted scoring + retained human oversight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Throughput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Queue-limited during surge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FastAPI batch inference path + structured JSON responses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Transparency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Narrative report only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Grad-CAM lead map + SHAP-feature bars in Next.js UI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Monitoring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Ad hoc logs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Prometheus scrape + Grafana "CardioSense — Overview"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Deployment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Workstation scripts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EC2 · Docker · Compose · nginx TLS ingress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imes New Roman"/>
              </a:rPr>
              <a:t>System architecture (repository-aligned)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960120"/>
            <a:ext cx="109728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C8D2E1"/>
                </a:solidFill>
                <a:latin typeface="Times New Roman"/>
              </a:rPr>
              <a:t>Flow: Clinician → Next.js 14 (TypeScript, Tailwind, Axios) ↔ nginx TLS → FastAPI + Uvicorn (JWT Bearer on protected routes)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8D2E1"/>
                </a:solidFill>
                <a:latin typeface="Times New Roman"/>
              </a:rPr>
              <a:t>Inference path: preprocess → ECGFeatureExtractor → torch CNN-BiLSTM → Grad-CAM + SHAP-style features → SQLAlchemy → SQLite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C8D2E1"/>
                </a:solidFill>
                <a:latin typeface="Times New Roman"/>
              </a:rPr>
              <a:t>Observability: Prometheus scrapes GET /metrics · Grafana datasource http://prometheus:9090 · compose stack in docker-compose.production.yml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331720"/>
            <a:ext cx="1417320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User</a:t>
            </a:r>
            <a:br/>
            <a:r>
              <a:t>(browser)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2788920" y="2331720"/>
            <a:ext cx="1691640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Next.js 14</a:t>
            </a:r>
            <a:br/>
            <a:r>
              <a:t>frontend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892040" y="2331720"/>
            <a:ext cx="1417320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nginx</a:t>
            </a:r>
            <a:br/>
            <a:r>
              <a:t>reverse proxy</a:t>
            </a:r>
          </a:p>
        </p:txBody>
      </p:sp>
      <p:sp>
        <p:nvSpPr>
          <p:cNvPr id="7" name="Rectangle 6"/>
          <p:cNvSpPr/>
          <p:nvPr/>
        </p:nvSpPr>
        <p:spPr>
          <a:xfrm>
            <a:off x="6720840" y="2331720"/>
            <a:ext cx="1691640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FastAPI</a:t>
            </a:r>
            <a:br/>
            <a:r>
              <a:t>(Uvicorn)</a:t>
            </a:r>
          </a:p>
        </p:txBody>
      </p:sp>
      <p:sp>
        <p:nvSpPr>
          <p:cNvPr id="8" name="Rectangle 7"/>
          <p:cNvSpPr/>
          <p:nvPr/>
        </p:nvSpPr>
        <p:spPr>
          <a:xfrm>
            <a:off x="8823960" y="2331720"/>
            <a:ext cx="1417320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JWT auth</a:t>
            </a:r>
            <a:br/>
            <a:r>
              <a:t>OTP email</a:t>
            </a:r>
          </a:p>
        </p:txBody>
      </p:sp>
      <p:sp>
        <p:nvSpPr>
          <p:cNvPr id="9" name="Rectangle 8"/>
          <p:cNvSpPr/>
          <p:nvPr/>
        </p:nvSpPr>
        <p:spPr>
          <a:xfrm>
            <a:off x="1600200" y="3611880"/>
            <a:ext cx="1874519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Preproc +</a:t>
            </a:r>
            <a:br/>
            <a:r>
              <a:t>Pan–Tompkins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3611880"/>
            <a:ext cx="1783080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Features +</a:t>
            </a:r>
            <a:br/>
            <a:r>
              <a:t>Torch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3611880"/>
            <a:ext cx="1691640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XAI</a:t>
            </a:r>
            <a:br/>
            <a:r>
              <a:t>Grad-CAM · SHAP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3611880"/>
            <a:ext cx="1417320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SQLite +</a:t>
            </a:r>
            <a:br/>
            <a:r>
              <a:t>SQLAlchemy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6120" y="4892040"/>
            <a:ext cx="2331720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Prometheus → Grafana</a:t>
            </a:r>
            <a:br/>
            <a:r>
              <a:t>(localhost / tunnel)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892040"/>
            <a:ext cx="1874519" cy="566928"/>
          </a:xfrm>
          <a:prstGeom prst="rect">
            <a:avLst/>
          </a:prstGeom>
          <a:solidFill>
            <a:srgbClr val="1B263B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0">
                <a:solidFill>
                  <a:srgbClr val="FFFFFF"/>
                </a:solidFill>
                <a:latin typeface="Times New Roman"/>
              </a:rPr>
              <a:t>AWS EC2 +</a:t>
            </a:r>
            <a:br/>
            <a:r>
              <a:t>Docker Compose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359152" y="2615184"/>
            <a:ext cx="402336" cy="0"/>
          </a:xfrm>
          <a:prstGeom prst="line">
            <a:avLst/>
          </a:prstGeom>
          <a:ln w="15875">
            <a:solidFill>
              <a:srgbClr val="C8D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507992" y="2615184"/>
            <a:ext cx="365760" cy="0"/>
          </a:xfrm>
          <a:prstGeom prst="line">
            <a:avLst/>
          </a:prstGeom>
          <a:ln w="15875">
            <a:solidFill>
              <a:srgbClr val="C8D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336792" y="2615184"/>
            <a:ext cx="356616" cy="0"/>
          </a:xfrm>
          <a:prstGeom prst="line">
            <a:avLst/>
          </a:prstGeom>
          <a:ln w="15875">
            <a:solidFill>
              <a:srgbClr val="C8D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439912" y="2615184"/>
            <a:ext cx="356616" cy="0"/>
          </a:xfrm>
          <a:prstGeom prst="line">
            <a:avLst/>
          </a:prstGeom>
          <a:ln w="15875">
            <a:solidFill>
              <a:srgbClr val="C8D2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imes New Roman"/>
              </a:rPr>
              <a:t>ECG signal processing pipeline</a:t>
            </a:r>
          </a:p>
        </p:txBody>
      </p:sp>
      <p:pic>
        <p:nvPicPr>
          <p:cNvPr id="3" name="Picture 2" descr="tmp1x86g2n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1064240" cy="46757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62636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8D2E1"/>
                </a:solidFill>
                <a:latin typeface="Times New Roman"/>
              </a:rPr>
              <a:t>NeuroKit2-backed Pan–Tompkins when available; SciPy Butterworth bandpass + notch per preprocessing.py.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imes New Roman"/>
              </a:rPr>
              <a:t>Deep learning model (CNN–BiLSTM)</a:t>
            </a:r>
          </a:p>
        </p:txBody>
      </p:sp>
      <p:pic>
        <p:nvPicPr>
          <p:cNvPr id="3" name="Picture 2" descr="tmplwmd7n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1064240" cy="471254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62636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8D2E1"/>
                </a:solidFill>
                <a:latin typeface="Times New Roman"/>
              </a:rPr>
              <a:t>Spectrogram CNN branch + temporal BiLSTM + gated fusion; dual sigmoid heads for AMI and revascularization.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imes New Roman"/>
              </a:rPr>
              <a:t>Explainable AI — Grad-CAM · SHAP-style attribution</a:t>
            </a:r>
          </a:p>
        </p:txBody>
      </p:sp>
      <p:pic>
        <p:nvPicPr>
          <p:cNvPr id="3" name="Picture 2" descr="tmpgjknrh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1064240" cy="44382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62636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8D2E1"/>
                </a:solidFill>
                <a:latin typeface="Times New Roman"/>
              </a:rPr>
              <a:t>Illustrative panels mirroring predict/explain payload keys stored in Prediction.shap_json / gradcam_json · Next.js renders bars from live API.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Times New Roman"/>
              </a:rPr>
              <a:t>Backend API &amp; authentication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7899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FastAPI application main.py — lifespan hooks initialise SQLite via SQLAlchemy models.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POST /predict · POST /predict/upload — JWT-protected; returns ami_probability, revascularization_probability, feature dicts.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POST /auth/register → email OTP · POST /auth/register/verify · POST /auth/login issuing Bearer JWT.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GET /history · GET /alerts · GET /explain/{patient_id} — authorised reads from persisted Prediction rows.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GET /metrics — Prometheus exposition (Counters/Histograms in metrics.py); middleware skips scrape noise.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GET /health — orchestration health-check used by Docker HEALTHCHECK directive.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imes New Roman"/>
              </a:rPr>
              <a:t>Monitoring &amp; observability</a:t>
            </a:r>
          </a:p>
        </p:txBody>
      </p:sp>
      <p:pic>
        <p:nvPicPr>
          <p:cNvPr id="3" name="Picture 2" descr="tmp581ya06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1064240" cy="5206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62636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8D2E1"/>
                </a:solidFill>
                <a:latin typeface="Times New Roman"/>
              </a:rPr>
              <a:t>Series names illustrated above match prometheus_client instrumentation; dashboards provisioned from deploy/grafana/dashboards/.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Times New Roman"/>
              </a:rPr>
              <a:t>AWS cloud deployment</a:t>
            </a:r>
          </a:p>
        </p:txBody>
      </p:sp>
      <p:pic>
        <p:nvPicPr>
          <p:cNvPr id="3" name="Picture 2" descr="tmpt04_kxw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60120"/>
            <a:ext cx="11064240" cy="4917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94360" y="6263640"/>
            <a:ext cx="10972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C8D2E1"/>
                </a:solidFill>
                <a:latin typeface="Times New Roman"/>
              </a:rPr>
              <a:t>Production Compose binds backend·frontend·Prometheus·Grafana to 127.0.0.1; TLS termination via host nginx configuration.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Times New Roman"/>
              </a:rPr>
              <a:t>Results &amp; outputs (no fabricated cohort metrics)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23444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38404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Deliverable</a:t>
                      </a:r>
                    </a:p>
                  </a:txBody>
                  <a:tcPr>
                    <a:solidFill>
                      <a:srgbClr val="1B26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Times New Roman"/>
                        </a:rPr>
                        <a:t>What the deployed stack exposes</a:t>
                      </a:r>
                    </a:p>
                  </a:txBody>
                  <a:tcPr>
                    <a:solidFill>
                      <a:srgbClr val="1B26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Classification outputs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AMI probability · revascularization probability · urgency tiering logic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XAI artefacts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gradcam_lead_importance · shap_features JSON mirrored in SQLite Prediction rows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Operational signals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Predict latency histogram · AMI risk-tier counters · optional TP/TN/FP/FN when ami_ground_truth supplied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Formal KPI table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Populate AUROC / Sens / Spec from thesis validation chapter — not hard-coded in repo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UI evidence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C8D2E1"/>
                          </a:solidFill>
                          <a:latin typeface="Times New Roman"/>
                        </a:rPr>
                        <a:t>Screenshots from Next.js analyse · explain · alerts routes for viva appendix</a:t>
                      </a:r>
                    </a:p>
                  </a:txBody>
                  <a:tcPr>
                    <a:solidFill>
                      <a:srgbClr val="0D1B2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Times New Roman"/>
              </a:rPr>
              <a:t>Challenges faced (engineering)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7899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Docker image size vs EC2 RAM — PyTorch + scientific stack lengthened build cycles and demanded tier sizing discipline.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Binding Compose services to loopback while exposing nginx-only ingress complicated smoke-testing.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NEXT_PUBLIC_API_URL correctness — Axios base URL must match TLS-terminated hostname behind proxy.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Prometheus cardinality control — middleware templates route paths to avoid exploding labels with patient IDs.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Robust preprocessing — graceful degradation when SciPy / NeuroKit2 / PyWavelets absent for lightweight CI.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XAI dependency drift — Captum/SHAP optional imports require heuristic fallbacks without breaking API contracts.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11480"/>
            <a:ext cx="10972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Times New Roman"/>
              </a:rPr>
              <a:t>Conclusion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34440"/>
            <a:ext cx="107899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CNN–BiLSTM fusion captures spectro-temporal AMI cues while emitting dual clinical endpoints in one forward pass.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Explainability hooks (Grad-CAM + SHAP-proxy features) align model outputs with inspectable physiology.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Cloud-native packaging (Compose + nginx + EC2) demonstrates deployable CDS engineering beyond notebook prototypes.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Prometheus/Grafana closes the loop on latency drift and alert storms.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Future scope: wearable streams · mobile clients · multi-site rollout · PostgreSQL migration · transformer encoders.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C8D2E1"/>
                </a:solidFill>
                <a:latin typeface="Times New Roman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